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82880"/>
            <a:ext cx="11567160" cy="685800"/>
          </a:xfrm>
          <a:prstGeom prst="roundRect">
            <a:avLst/>
          </a:prstGeom>
          <a:solidFill>
            <a:srgbClr val="0E1830"/>
          </a:solidFill>
          <a:ln>
            <a:solidFill>
              <a:srgbClr val="32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914400"/>
            <a:ext cx="11338560" cy="5212080"/>
          </a:xfrm>
          <a:prstGeom prst="roundRect">
            <a:avLst/>
          </a:prstGeom>
          <a:solidFill>
            <a:srgbClr val="0E1830"/>
          </a:solidFill>
          <a:ln>
            <a:solidFill>
              <a:srgbClr val="3755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5F8FF"/>
                </a:solidFill>
              </a:rPr>
              <a:t>🌦️ ClimateScope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Smart Climate-Aware Travel Planner
for Field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5029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0C4E6"/>
                </a:solidFill>
              </a:rPr>
              <a:t>A data-driven decision support platform for officials, field teams, and operational travel planning under climate uncertainty.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77639"/>
            <a:ext cx="1508760" cy="384048"/>
          </a:xfrm>
          <a:prstGeom prst="roundRect">
            <a:avLst/>
          </a:prstGeom>
          <a:solidFill>
            <a:srgbClr val="141F3A"/>
          </a:solidFill>
          <a:ln>
            <a:solidFill>
              <a:srgbClr val="40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0690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F8FF"/>
                </a:solidFill>
              </a:rPr>
              <a:t>Mission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977639"/>
            <a:ext cx="1508760" cy="384048"/>
          </a:xfrm>
          <a:prstGeom prst="roundRect">
            <a:avLst/>
          </a:prstGeom>
          <a:solidFill>
            <a:srgbClr val="141F3A"/>
          </a:solidFill>
          <a:ln>
            <a:solidFill>
              <a:srgbClr val="40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40690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F8FF"/>
                </a:solidFill>
              </a:rPr>
              <a:t>Travel Readiness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977639"/>
            <a:ext cx="1508760" cy="384048"/>
          </a:xfrm>
          <a:prstGeom prst="roundRect">
            <a:avLst/>
          </a:prstGeom>
          <a:solidFill>
            <a:srgbClr val="141F3A"/>
          </a:solidFill>
          <a:ln>
            <a:solidFill>
              <a:srgbClr val="40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40690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F8FF"/>
                </a:solidFill>
              </a:rPr>
              <a:t>Geo 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977639"/>
            <a:ext cx="1965960" cy="384048"/>
          </a:xfrm>
          <a:prstGeom prst="roundRect">
            <a:avLst/>
          </a:prstGeom>
          <a:solidFill>
            <a:srgbClr val="141F3A"/>
          </a:solidFill>
          <a:ln>
            <a:solidFill>
              <a:srgbClr val="40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40690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F8FF"/>
                </a:solidFill>
              </a:rPr>
              <a:t>Compare Destinations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977639"/>
            <a:ext cx="1508760" cy="384048"/>
          </a:xfrm>
          <a:prstGeom prst="roundRect">
            <a:avLst/>
          </a:prstGeom>
          <a:solidFill>
            <a:srgbClr val="141F3A"/>
          </a:solidFill>
          <a:ln>
            <a:solidFill>
              <a:srgbClr val="40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40690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F8FF"/>
                </a:solidFill>
              </a:rPr>
              <a:t>Situation Brief</a:t>
            </a:r>
          </a:p>
        </p:txBody>
      </p:sp>
      <p:pic>
        <p:nvPicPr>
          <p:cNvPr id="18" name="Picture 17" descr="Screenshot 2026-03-25 205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25880"/>
            <a:ext cx="5074920" cy="4160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" y="50749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8D2FF"/>
                </a:solidFill>
              </a:rPr>
              <a:t>Presented by Dinesh Kanna  •  Infosys Springboard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F78A5"/>
                </a:solidFill>
              </a:rPr>
              <a:t>Dinesh Kanna's Infosys Springboard ClimateScope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82880"/>
            <a:ext cx="11567160" cy="685800"/>
          </a:xfrm>
          <a:prstGeom prst="roundRect">
            <a:avLst/>
          </a:prstGeom>
          <a:solidFill>
            <a:srgbClr val="0E1830"/>
          </a:solidFill>
          <a:ln>
            <a:solidFill>
              <a:srgbClr val="32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E6"/>
                </a:solidFill>
              </a:rPr>
              <a:t>01 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8FF"/>
                </a:solidFill>
              </a:rPr>
              <a:t>Background &amp; Problem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475488"/>
            <a:ext cx="1371600" cy="146304"/>
          </a:xfrm>
          <a:prstGeom prst="roundRect">
            <a:avLst/>
          </a:prstGeom>
          <a:solidFill>
            <a:srgbClr val="B1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5394960" cy="480060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44168"/>
            <a:ext cx="5120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163FF"/>
                </a:solidFill>
              </a:rPr>
              <a:t>Operational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</a:defRPr>
            </a:pPr>
            <a:r>
              <a:t>Field teams often travel in uncertain weather conditions.</a:t>
            </a:r>
          </a:p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</a:defRPr>
            </a:pPr>
            <a:r>
              <a:t>Standard weather apps show values, but not mission suitability.</a:t>
            </a:r>
          </a:p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</a:defRPr>
            </a:pPr>
            <a:r>
              <a:t>Officials need fast go / caution / delay decisions.</a:t>
            </a:r>
          </a:p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</a:defRPr>
            </a:pPr>
            <a:r>
              <a:t>Climate impacts visibility, mobility, safety, and timing.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303520" cy="4800600"/>
          </a:xfrm>
          <a:prstGeom prst="roundRect">
            <a:avLst/>
          </a:prstGeom>
          <a:solidFill>
            <a:srgbClr val="1A284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5CAA"/>
                </a:solidFill>
              </a:rPr>
              <a:t>Why Existing Tools Fall 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</a:defRPr>
            </a:pPr>
            <a:r>
              <a:t>• Raw weather ≠ operational decision support</a:t>
            </a:r>
          </a:p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</a:defRPr>
            </a:pPr>
            <a:r>
              <a:t>• No travel readiness scoring</a:t>
            </a:r>
          </a:p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</a:defRPr>
            </a:pPr>
            <a:r>
              <a:t>• No comparative destination ranking</a:t>
            </a:r>
          </a:p>
          <a:p>
            <a:pPr>
              <a:spcAft>
                <a:spcPts val="1000"/>
              </a:spcAft>
              <a:defRPr sz="1700">
                <a:solidFill>
                  <a:srgbClr val="F5F8FF"/>
                </a:solidFill>
              </a:defRPr>
            </a:pPr>
            <a:r>
              <a:t>• No field-oriented advisory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F78A5"/>
                </a:solidFill>
              </a:rPr>
              <a:t>Dinesh Kanna's Infosys Springboard ClimateScope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82880"/>
            <a:ext cx="11567160" cy="685800"/>
          </a:xfrm>
          <a:prstGeom prst="roundRect">
            <a:avLst/>
          </a:prstGeom>
          <a:solidFill>
            <a:srgbClr val="0E1830"/>
          </a:solidFill>
          <a:ln>
            <a:solidFill>
              <a:srgbClr val="32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E6"/>
                </a:solidFill>
              </a:rPr>
              <a:t>02  PROJECT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8FF"/>
                </a:solidFill>
              </a:rPr>
              <a:t>Problem Statement &amp;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475488"/>
            <a:ext cx="1371600" cy="146304"/>
          </a:xfrm>
          <a:prstGeom prst="roundRect">
            <a:avLst/>
          </a:prstGeom>
          <a:solidFill>
            <a:srgbClr val="4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577840" cy="507492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44168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5CAA"/>
                </a:solidFill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1. Weather dashboards do not clearly tell whether a destination is operationally suitable for travel.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2. Field inspections and official deployments require quick climate-aware decision support.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3. Without a readiness score, planning becomes slower, inconsistent, and more risk-prone.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34440"/>
            <a:ext cx="5303520" cy="5074920"/>
          </a:xfrm>
          <a:prstGeom prst="roundRect">
            <a:avLst/>
          </a:prstGeom>
          <a:solidFill>
            <a:srgbClr val="1A284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34416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5CFFBB"/>
                </a:solidFill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288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Build a climate-aware travel planning dashboard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Convert multiple weather factors into a travel score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Compare destinations for safer deployment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Provide map-based and visual operational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F78A5"/>
                </a:solidFill>
              </a:rPr>
              <a:t>Dinesh Kanna's Infosys Springboard ClimateScope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82880"/>
            <a:ext cx="11567160" cy="685800"/>
          </a:xfrm>
          <a:prstGeom prst="roundRect">
            <a:avLst/>
          </a:prstGeom>
          <a:solidFill>
            <a:srgbClr val="0E1830"/>
          </a:solidFill>
          <a:ln>
            <a:solidFill>
              <a:srgbClr val="32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E6"/>
                </a:solidFill>
              </a:rPr>
              <a:t>03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8FF"/>
                </a:solidFill>
              </a:rPr>
              <a:t>ClimateScope X – Proposed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475488"/>
            <a:ext cx="1371600" cy="146304"/>
          </a:xfrm>
          <a:prstGeom prst="roundRect">
            <a:avLst/>
          </a:prstGeom>
          <a:solidFill>
            <a:srgbClr val="5CF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B0C4E6"/>
                </a:solidFill>
              </a:rPr>
              <a:t>ClimateScope X transforms global weather data into actionable travel readiness insights for officials and field teams.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03520" cy="105156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892807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8D2FF"/>
                </a:solidFill>
              </a:rPr>
              <a:t>🧭 Mission Planner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221991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Destination, purpose, risk tolerance, and mode-based planning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783080"/>
            <a:ext cx="5303520" cy="105156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892807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163FF"/>
                </a:solidFill>
              </a:rPr>
              <a:t>🌍 Destination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2221991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Country-level climate insight with suitability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5303520" cy="105156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26440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8D2FF"/>
                </a:solidFill>
              </a:rPr>
              <a:t>🚦 Travel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59359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Safe vs risky destination ranking using score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154680"/>
            <a:ext cx="5303520" cy="105156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1" y="326440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163FF"/>
                </a:solidFill>
              </a:rPr>
              <a:t>⚖️ Compare Destinations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359359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Side-by-side destination suitability comparison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26280"/>
            <a:ext cx="5303520" cy="105156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463600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8D2FF"/>
                </a:solidFill>
              </a:rPr>
              <a:t>🛰 Geo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496519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Global map of climate-sensitive operational zones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526280"/>
            <a:ext cx="5303520" cy="105156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463600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163FF"/>
                </a:solidFill>
              </a:rPr>
              <a:t>📖 Situation Brief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1" y="4965192"/>
            <a:ext cx="4937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Quick briefing for presentation and decision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F78A5"/>
                </a:solidFill>
              </a:rPr>
              <a:t>Dinesh Kanna's Infosys Springboard ClimateScope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82880"/>
            <a:ext cx="11567160" cy="685800"/>
          </a:xfrm>
          <a:prstGeom prst="roundRect">
            <a:avLst/>
          </a:prstGeom>
          <a:solidFill>
            <a:srgbClr val="0E1830"/>
          </a:solidFill>
          <a:ln>
            <a:solidFill>
              <a:srgbClr val="32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E6"/>
                </a:solidFill>
              </a:rPr>
              <a:t>04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8FF"/>
                </a:solidFill>
              </a:rPr>
              <a:t>System Workflow &amp; Scoring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475488"/>
            <a:ext cx="1371600" cy="146304"/>
          </a:xfrm>
          <a:prstGeom prst="roundRect">
            <a:avLst/>
          </a:prstGeom>
          <a:solidFill>
            <a:srgbClr val="4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2103120"/>
            <a:ext cx="2148840" cy="210312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212848"/>
            <a:ext cx="1874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8D2FF"/>
                </a:solidFill>
              </a:rPr>
              <a:t>Dataset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GlobalWeatherRepository.csv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788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CFFBB"/>
                </a:solidFill>
              </a:rPr>
              <a:t>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103120"/>
            <a:ext cx="2148840" cy="2103120"/>
          </a:xfrm>
          <a:prstGeom prst="roundRect">
            <a:avLst/>
          </a:prstGeom>
          <a:solidFill>
            <a:srgbClr val="1A284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212848"/>
            <a:ext cx="1874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163FF"/>
                </a:solidFill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880360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Cleaning + feature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788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CFFBB"/>
                </a:solidFill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103120"/>
            <a:ext cx="2148840" cy="210312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212848"/>
            <a:ext cx="1874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8D2FF"/>
                </a:solidFill>
              </a:rPr>
              <a:t>Logic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880360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Weighted travel suitability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788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CFFBB"/>
                </a:solidFill>
              </a:rPr>
              <a:t>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2103120"/>
            <a:ext cx="2148840" cy="2103120"/>
          </a:xfrm>
          <a:prstGeom prst="roundRect">
            <a:avLst/>
          </a:prstGeom>
          <a:solidFill>
            <a:srgbClr val="1A284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2212848"/>
            <a:ext cx="1874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B163FF"/>
                </a:solidFill>
              </a:rPr>
              <a:t>Risk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880360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Advisory + readiness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7889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5CFFBB"/>
                </a:solidFill>
              </a:rPr>
              <a:t>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2103120"/>
            <a:ext cx="2148840" cy="210312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2212848"/>
            <a:ext cx="1874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8D2FF"/>
                </a:solidFill>
              </a:rPr>
              <a:t>Dashboard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880360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8FF"/>
                </a:solidFill>
              </a:rPr>
              <a:t>Interactive Streamlit decision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846320"/>
            <a:ext cx="9966960" cy="82296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61872" y="4956048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5CAA"/>
                </a:solidFill>
              </a:rPr>
              <a:t>Key Weather Parameters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138928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8FF"/>
                </a:solidFill>
              </a:rPr>
              <a:t>Temperature • Humidity • Wind • Visibility • Precipitation • UV • Pressure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F78A5"/>
                </a:solidFill>
              </a:rPr>
              <a:t>Dinesh Kanna's Infosys Springboard ClimateScope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82880"/>
            <a:ext cx="11567160" cy="685800"/>
          </a:xfrm>
          <a:prstGeom prst="roundRect">
            <a:avLst/>
          </a:prstGeom>
          <a:solidFill>
            <a:srgbClr val="0E1830"/>
          </a:solidFill>
          <a:ln>
            <a:solidFill>
              <a:srgbClr val="32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E6"/>
                </a:solidFill>
              </a:rPr>
              <a:t>05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8FF"/>
                </a:solidFill>
              </a:rPr>
              <a:t>Application Interface &amp; Key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475488"/>
            <a:ext cx="1371600" cy="146304"/>
          </a:xfrm>
          <a:prstGeom prst="roundRect">
            <a:avLst/>
          </a:prstGeom>
          <a:solidFill>
            <a:srgbClr val="B1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749039" cy="406908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44168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8D2FF"/>
                </a:solidFill>
              </a:rPr>
              <a:t>Mission Planner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234440"/>
            <a:ext cx="3749039" cy="4069080"/>
          </a:xfrm>
          <a:prstGeom prst="roundRect">
            <a:avLst/>
          </a:prstGeom>
          <a:solidFill>
            <a:srgbClr val="1A284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44168"/>
            <a:ext cx="3474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5CFFBB"/>
                </a:solidFill>
              </a:rPr>
              <a:t>Travel Readiness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1234440"/>
            <a:ext cx="3703320" cy="406908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7" y="1344168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5CAA"/>
                </a:solidFill>
              </a:rPr>
              <a:t>Geo Operations</a:t>
            </a:r>
          </a:p>
        </p:txBody>
      </p:sp>
      <p:pic>
        <p:nvPicPr>
          <p:cNvPr id="13" name="Picture 12" descr="Screenshot 2026-03-25 205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3566160" cy="3429000"/>
          </a:xfrm>
          <a:prstGeom prst="rect">
            <a:avLst/>
          </a:prstGeom>
        </p:spPr>
      </p:pic>
      <p:pic>
        <p:nvPicPr>
          <p:cNvPr id="14" name="Picture 13" descr="Screenshot 2026-03-25 2053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600200"/>
            <a:ext cx="3566160" cy="3429000"/>
          </a:xfrm>
          <a:prstGeom prst="rect">
            <a:avLst/>
          </a:prstGeom>
        </p:spPr>
      </p:pic>
      <p:pic>
        <p:nvPicPr>
          <p:cNvPr id="15" name="Picture 14" descr="Screenshot 2026-03-25 2055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600200"/>
            <a:ext cx="3520440" cy="3429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B0C4E6"/>
                </a:solidFill>
              </a:rPr>
              <a:t>Premium dark neon glass UI with fast, presentation-friendly interactive 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F78A5"/>
                </a:solidFill>
              </a:rPr>
              <a:t>Dinesh Kanna's Infosys Springboard ClimateScope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82880"/>
            <a:ext cx="11567160" cy="685800"/>
          </a:xfrm>
          <a:prstGeom prst="roundRect">
            <a:avLst/>
          </a:prstGeom>
          <a:solidFill>
            <a:srgbClr val="0E1830"/>
          </a:solidFill>
          <a:ln>
            <a:solidFill>
              <a:srgbClr val="32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E6"/>
                </a:solidFill>
              </a:rPr>
              <a:t>06 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8FF"/>
                </a:solidFill>
              </a:rPr>
              <a:t>Benefits &amp; Real-World Use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475488"/>
            <a:ext cx="1371600" cy="146304"/>
          </a:xfrm>
          <a:prstGeom prst="roundRect">
            <a:avLst/>
          </a:prstGeom>
          <a:solidFill>
            <a:srgbClr val="5CF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5394960" cy="493776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35607"/>
            <a:ext cx="5120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5CFFBB"/>
                </a:solidFill>
              </a:rP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Faster travel decisions for officials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Climate-aware mission planning support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Easy identification of safer destinations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Reduced planning ambiguity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Visual and explainable dashboard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937760"/>
          </a:xfrm>
          <a:prstGeom prst="roundRect">
            <a:avLst/>
          </a:prstGeom>
          <a:solidFill>
            <a:srgbClr val="1A284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435607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8D2FF"/>
                </a:solidFill>
              </a:rPr>
              <a:t>Potential 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Government inspection travel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Disaster response field movement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Climate-sensitive logistics planning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Tourism / operations pre-screening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Remote site deployment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F78A5"/>
                </a:solidFill>
              </a:rPr>
              <a:t>Dinesh Kanna's Infosys Springboard ClimateScope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82880"/>
            <a:ext cx="11567160" cy="685800"/>
          </a:xfrm>
          <a:prstGeom prst="roundRect">
            <a:avLst/>
          </a:prstGeom>
          <a:solidFill>
            <a:srgbClr val="0E1830"/>
          </a:solidFill>
          <a:ln>
            <a:solidFill>
              <a:srgbClr val="32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0C4E6"/>
                </a:solidFill>
              </a:rPr>
              <a:t>07 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8FF"/>
                </a:solidFill>
              </a:rPr>
              <a:t>Future Scope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475488"/>
            <a:ext cx="1371600" cy="146304"/>
          </a:xfrm>
          <a:prstGeom prst="roundRect">
            <a:avLst/>
          </a:prstGeom>
          <a:solidFill>
            <a:srgbClr val="FF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3566160"/>
          </a:xfrm>
          <a:prstGeom prst="roundRect">
            <a:avLst/>
          </a:prstGeom>
          <a:solidFill>
            <a:srgbClr val="141F3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35607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5CAA"/>
                </a:solidFill>
              </a:rPr>
              <a:t>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Live weather API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Real-time travel alerts and route advisories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Multi-city route optimization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Airport / road condition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</a:defRPr>
            </a:pPr>
            <a:r>
              <a:t>• Predictive deployment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03520" cy="3566160"/>
          </a:xfrm>
          <a:prstGeom prst="roundRect">
            <a:avLst/>
          </a:prstGeom>
          <a:solidFill>
            <a:srgbClr val="1A284A"/>
          </a:solidFill>
          <a:ln>
            <a:solidFill>
              <a:srgbClr val="364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435607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8D2FF"/>
                </a:solidFill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8FF"/>
                </a:solidFill>
              </a:defRPr>
            </a:pPr>
            <a:r>
              <a:t>ClimateScope X demonstrates how weather analytics can be transformed into a practical decision-support system for field travel and operational planning.</a:t>
            </a:r>
          </a:p>
          <a:p>
            <a:pPr>
              <a:spcAft>
                <a:spcPts val="1000"/>
              </a:spcAft>
              <a:defRPr sz="1500">
                <a:solidFill>
                  <a:srgbClr val="F5F8FF"/>
                </a:solidFill>
              </a:defRPr>
            </a:pPr>
            <a:r>
              <a:t>It is simple, visual, and highly usable for real-world climate-aware travel readiness.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5394960"/>
            <a:ext cx="7406640" cy="777240"/>
          </a:xfrm>
          <a:prstGeom prst="roundRect">
            <a:avLst/>
          </a:prstGeom>
          <a:solidFill>
            <a:srgbClr val="0E1830"/>
          </a:solidFill>
          <a:ln>
            <a:solidFill>
              <a:srgbClr val="41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55778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5F8FF"/>
                </a:solidFill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F78A5"/>
                </a:solidFill>
              </a:rPr>
              <a:t>Dinesh Kanna's Infosys Springboard ClimateScope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